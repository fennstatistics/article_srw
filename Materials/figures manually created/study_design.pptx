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F12324-BE75-93BC-0D7E-B1A906D04C59}" name="louisa estadieu" initials="le" userId="bea5001da6554cd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us Fenn" initials="JF" lastIdx="8" clrIdx="0">
    <p:extLst>
      <p:ext uri="{19B8F6BF-5375-455C-9EA6-DF929625EA0E}">
        <p15:presenceInfo xmlns:p15="http://schemas.microsoft.com/office/powerpoint/2012/main" userId="4969b09ad1230f2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3"/>
    <p:restoredTop sz="95940"/>
  </p:normalViewPr>
  <p:slideViewPr>
    <p:cSldViewPr snapToGrid="0">
      <p:cViewPr>
        <p:scale>
          <a:sx n="75" d="100"/>
          <a:sy n="75" d="100"/>
        </p:scale>
        <p:origin x="1566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BE002-1625-374E-86F3-4E6FBBF535C6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BFB11-6956-0F4E-9D60-80FA139F18A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7881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210268-3D25-F832-5F38-0673C18E2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6505F9-5DC7-AB13-FD72-4122014A1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4F8F28-EF86-27C5-011E-8EF6ADF8E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4C26-C9AA-664B-8F9E-3DB27A65D907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6FC26C-E7CA-7875-75B9-D1E6F946A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CAD1F7-056F-3D20-2FE1-866F645C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71DF8-6D35-224E-A484-7BE07C7B6F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670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1FC1EC-7481-9198-E024-FF3FF9DB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30A89F-CD58-3362-BCB6-059A887AA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8B8830-FDE5-6C85-2F40-5A591391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4C26-C9AA-664B-8F9E-3DB27A65D907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DAF7D5-F943-E87F-53FD-B73CF02E8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E52DAB-D77A-F545-8F97-D7AC4130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71DF8-6D35-224E-A484-7BE07C7B6F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2138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120F8D-32AA-A300-465A-A362F1E7B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0339490-F914-10D3-67DE-881A19F0B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59EB3-5DF3-30B4-8167-E75442476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4C26-C9AA-664B-8F9E-3DB27A65D907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C840A7-5CAF-8C9F-33E7-D45E58EFE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C397E1-7DFF-B327-9594-9756B804A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71DF8-6D35-224E-A484-7BE07C7B6F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831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F7A044-09A2-4B39-654D-AA3B7BC72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62201D-4454-56F0-F885-564C4784C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CBDF7D-FC6E-D816-96E0-F2F64253A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8C795C-B174-3D92-F9BA-28EDA2182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4C26-C9AA-664B-8F9E-3DB27A65D907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F537E0-3FE4-9793-0C26-3E306F51B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2B34F13-46E0-34AE-EC14-33266998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71DF8-6D35-224E-A484-7BE07C7B6F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71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8F5430-3084-41E1-1F6A-1117EE0E1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B349F1-A464-2694-6B94-D56C174A2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55BED36-4219-6E64-98B6-7AB178A6E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C3B7FF5-73C3-99ED-4F9C-D24E6DE1C8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AD900F9-F905-962A-F421-5B2449705A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52F6567-D8AC-FF2F-757E-A588D785C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4C26-C9AA-664B-8F9E-3DB27A65D907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26236B3-EC07-1AD1-9239-578D31BBE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F446438-58F5-BE5E-0DD4-FDDB5C283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71DF8-6D35-224E-A484-7BE07C7B6F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2077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906D09-6981-1009-ED14-7220B827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94117DE-03D2-C0FF-8767-2E96765A0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4C26-C9AA-664B-8F9E-3DB27A65D907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CA0E87-DF57-2EB9-082F-7384B7A8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DE6851-1312-F74C-5A4F-6897A328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71DF8-6D35-224E-A484-7BE07C7B6F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4991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6805007-34B5-BCFA-52CF-2D636CC4B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4C26-C9AA-664B-8F9E-3DB27A65D907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91F871-DE86-BD5E-F139-7CC499EB0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03C5FE-C594-1A53-1884-72802538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71DF8-6D35-224E-A484-7BE07C7B6F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5644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45ED6B-0E15-444E-6484-4A9BA9CB6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4587D7-AE0F-FA51-9187-4F8D69DAC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5C63B5B-4D0C-6C65-1580-540BD89F8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19101A-1043-D9A0-AAEF-85FFD91D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4C26-C9AA-664B-8F9E-3DB27A65D907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E3C40AF-7A07-4AEB-16CD-541713932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34B140-B0B4-C4EA-37F3-173CA5095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71DF8-6D35-224E-A484-7BE07C7B6F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4158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523DC2-32ED-D5D1-4826-3E020939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BEFB1FA-0F44-F857-51E8-09A93C41B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98ADBFF-04ED-D195-9CC2-813B5E67E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1ACB334-47CB-ACBD-B63E-177E5C64C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4C26-C9AA-664B-8F9E-3DB27A65D907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3A5FB0-04B2-C6E0-C10C-A2BC5CEE2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F784290-EA7A-872F-15A8-5CB241666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71DF8-6D35-224E-A484-7BE07C7B6F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3095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8F3249-2595-E433-5296-7C3E5E2B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AA7B30-0CE3-F88F-58AC-59FF6E34C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DB8A59-1ADD-B791-2310-1AB24D22D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4C26-C9AA-664B-8F9E-3DB27A65D907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E233C7-5C25-611E-3027-DF69E8035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B7DC2F-9473-1B87-A526-969EA597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71DF8-6D35-224E-A484-7BE07C7B6F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735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82F9223-DC01-31EF-06C6-F834316AD7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1CA0316-C877-5A16-65BB-DDE26BF1A2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89A049-1BCD-F6D8-A37A-2965629B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4C26-C9AA-664B-8F9E-3DB27A65D907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A48E19-C422-D5DC-415C-9781D293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17ED70-6C52-BC44-225C-B58F7CBFB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71DF8-6D35-224E-A484-7BE07C7B6F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142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1FDD7AD-C0EE-B65B-750B-D78F16B4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56CF786-558E-34C3-DF5C-1EB626083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C59771-7939-26D1-1156-635331718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34C26-C9AA-664B-8F9E-3DB27A65D907}" type="datetimeFigureOut">
              <a:rPr lang="de-DE" smtClean="0"/>
              <a:t>12.12.2025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C8E08D8-F4CF-AAC4-3E33-5596B08B4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ECFCD8-D30D-BD6C-B7AD-77794364D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71DF8-6D35-224E-A484-7BE07C7B6FB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01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CB945E-BF48-3F74-1AE9-704E592AACF1}"/>
              </a:ext>
            </a:extLst>
          </p:cNvPr>
          <p:cNvCxnSpPr>
            <a:cxnSpLocks/>
          </p:cNvCxnSpPr>
          <p:nvPr/>
        </p:nvCxnSpPr>
        <p:spPr>
          <a:xfrm>
            <a:off x="1579577" y="1779755"/>
            <a:ext cx="725596" cy="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aute 2">
            <a:extLst>
              <a:ext uri="{FF2B5EF4-FFF2-40B4-BE49-F238E27FC236}">
                <a16:creationId xmlns:a16="http://schemas.microsoft.com/office/drawing/2014/main" id="{4A9296B1-C39D-473E-8876-8746987742DD}"/>
              </a:ext>
            </a:extLst>
          </p:cNvPr>
          <p:cNvSpPr/>
          <p:nvPr/>
        </p:nvSpPr>
        <p:spPr>
          <a:xfrm>
            <a:off x="2426501" y="1284060"/>
            <a:ext cx="2251821" cy="991391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assignment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6F38C5D5-C5B1-4AB1-B0AC-E92B17AC1EE2}"/>
              </a:ext>
            </a:extLst>
          </p:cNvPr>
          <p:cNvSpPr/>
          <p:nvPr/>
        </p:nvSpPr>
        <p:spPr>
          <a:xfrm>
            <a:off x="273538" y="1422286"/>
            <a:ext cx="1146558" cy="71493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and consent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248DA45E-1C77-44F4-99EC-B8CAB3C14A77}"/>
              </a:ext>
            </a:extLst>
          </p:cNvPr>
          <p:cNvSpPr/>
          <p:nvPr/>
        </p:nvSpPr>
        <p:spPr>
          <a:xfrm>
            <a:off x="5525246" y="1431019"/>
            <a:ext cx="2106382" cy="109909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(bio-inspired)</a:t>
            </a:r>
          </a:p>
        </p:txBody>
      </p: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97CACBDA-0687-4282-971B-4E312D886DB3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4771135" y="1779756"/>
            <a:ext cx="754111" cy="200812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12">
            <a:extLst>
              <a:ext uri="{FF2B5EF4-FFF2-40B4-BE49-F238E27FC236}">
                <a16:creationId xmlns:a16="http://schemas.microsoft.com/office/drawing/2014/main" id="{8610D1F0-205B-4B49-9403-08746BC69306}"/>
              </a:ext>
            </a:extLst>
          </p:cNvPr>
          <p:cNvCxnSpPr>
            <a:cxnSpLocks/>
          </p:cNvCxnSpPr>
          <p:nvPr/>
        </p:nvCxnSpPr>
        <p:spPr>
          <a:xfrm flipV="1">
            <a:off x="4150200" y="675863"/>
            <a:ext cx="1395895" cy="746423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12">
            <a:extLst>
              <a:ext uri="{FF2B5EF4-FFF2-40B4-BE49-F238E27FC236}">
                <a16:creationId xmlns:a16="http://schemas.microsoft.com/office/drawing/2014/main" id="{5E03B615-FD09-4623-8D03-20E5BE770DC7}"/>
              </a:ext>
            </a:extLst>
          </p:cNvPr>
          <p:cNvCxnSpPr>
            <a:cxnSpLocks/>
            <a:endCxn id="49" idx="1"/>
          </p:cNvCxnSpPr>
          <p:nvPr/>
        </p:nvCxnSpPr>
        <p:spPr>
          <a:xfrm flipV="1">
            <a:off x="7685063" y="1266448"/>
            <a:ext cx="965549" cy="65588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12">
            <a:extLst>
              <a:ext uri="{FF2B5EF4-FFF2-40B4-BE49-F238E27FC236}">
                <a16:creationId xmlns:a16="http://schemas.microsoft.com/office/drawing/2014/main" id="{E449045A-CDC7-4246-A8C6-AA373006924C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7685063" y="838480"/>
            <a:ext cx="965549" cy="427968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8">
            <a:extLst>
              <a:ext uri="{FF2B5EF4-FFF2-40B4-BE49-F238E27FC236}">
                <a16:creationId xmlns:a16="http://schemas.microsoft.com/office/drawing/2014/main" id="{B36F999F-AE75-4532-991D-87341D7A8164}"/>
              </a:ext>
            </a:extLst>
          </p:cNvPr>
          <p:cNvSpPr txBox="1"/>
          <p:nvPr/>
        </p:nvSpPr>
        <p:spPr>
          <a:xfrm>
            <a:off x="8650612" y="604728"/>
            <a:ext cx="35643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Task 1</a:t>
            </a:r>
            <a:r>
              <a:rPr lang="en-US" sz="16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: answer survey scales after watching video: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Perceived Ecological Benefit Scale (PEBS)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Perceived </a:t>
            </a:r>
            <a:r>
              <a:rPr lang="en-US" sz="1600" dirty="0" err="1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Bioinspiration</a:t>
            </a:r>
            <a:r>
              <a:rPr lang="en-US" sz="16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 Scale (PBS)</a:t>
            </a:r>
            <a:endParaRPr lang="en-US" sz="1200" dirty="0">
              <a:latin typeface="Times New Roman" panose="02020603050405020304" pitchFamily="18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55" name="TextBox 8">
            <a:extLst>
              <a:ext uri="{FF2B5EF4-FFF2-40B4-BE49-F238E27FC236}">
                <a16:creationId xmlns:a16="http://schemas.microsoft.com/office/drawing/2014/main" id="{F1DA21DE-4C71-48B7-AC09-E12C00DE5B37}"/>
              </a:ext>
            </a:extLst>
          </p:cNvPr>
          <p:cNvSpPr txBox="1"/>
          <p:nvPr/>
        </p:nvSpPr>
        <p:spPr>
          <a:xfrm>
            <a:off x="5853755" y="2779471"/>
            <a:ext cx="2547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Task 4</a:t>
            </a:r>
            <a:r>
              <a:rPr lang="en-US" sz="16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: List potential application scenarios of SRW</a:t>
            </a:r>
          </a:p>
        </p:txBody>
      </p:sp>
      <p:sp>
        <p:nvSpPr>
          <p:cNvPr id="57" name="TextBox 8">
            <a:extLst>
              <a:ext uri="{FF2B5EF4-FFF2-40B4-BE49-F238E27FC236}">
                <a16:creationId xmlns:a16="http://schemas.microsoft.com/office/drawing/2014/main" id="{CF1059E7-346D-49B1-8248-3CD231684163}"/>
              </a:ext>
            </a:extLst>
          </p:cNvPr>
          <p:cNvSpPr txBox="1"/>
          <p:nvPr/>
        </p:nvSpPr>
        <p:spPr>
          <a:xfrm>
            <a:off x="9289834" y="2672745"/>
            <a:ext cx="2547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Task 5</a:t>
            </a:r>
            <a:r>
              <a:rPr lang="en-US" sz="16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: Rate relevance of each scenario (0–2 scale)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8C584FEB-0D73-4C18-814F-E2C1957603E6}"/>
              </a:ext>
            </a:extLst>
          </p:cNvPr>
          <p:cNvSpPr txBox="1"/>
          <p:nvPr/>
        </p:nvSpPr>
        <p:spPr>
          <a:xfrm>
            <a:off x="6197853" y="3452510"/>
            <a:ext cx="27647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342900" indent="-342900">
              <a:buFontTx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in case of mining accident</a:t>
            </a:r>
          </a:p>
          <a:p>
            <a:pPr marL="342900" indent="-342900"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Underwater monitoring</a:t>
            </a:r>
          </a:p>
          <a:p>
            <a:pPr marL="342900" indent="-342900">
              <a:buFontTx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</a:p>
          <a:p>
            <a:pPr marL="342900" indent="-342900">
              <a:buFontTx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exploration</a:t>
            </a:r>
          </a:p>
          <a:p>
            <a:pPr marL="342900" indent="-342900">
              <a:buFontTx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62" name="TextBox 8">
            <a:extLst>
              <a:ext uri="{FF2B5EF4-FFF2-40B4-BE49-F238E27FC236}">
                <a16:creationId xmlns:a16="http://schemas.microsoft.com/office/drawing/2014/main" id="{46CCA73E-4432-4283-9311-4D49917698E8}"/>
              </a:ext>
            </a:extLst>
          </p:cNvPr>
          <p:cNvSpPr txBox="1"/>
          <p:nvPr/>
        </p:nvSpPr>
        <p:spPr>
          <a:xfrm>
            <a:off x="297866" y="2672745"/>
            <a:ext cx="25478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Task 2</a:t>
            </a:r>
            <a:r>
              <a:rPr lang="en-US" sz="16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: Task 2: Open text responses on SRW’s contribution to each sustainability pillar (3 text boxes, reflective thinking encouraged)</a:t>
            </a:r>
          </a:p>
        </p:txBody>
      </p:sp>
      <p:cxnSp>
        <p:nvCxnSpPr>
          <p:cNvPr id="64" name="Straight Arrow Connector 12">
            <a:extLst>
              <a:ext uri="{FF2B5EF4-FFF2-40B4-BE49-F238E27FC236}">
                <a16:creationId xmlns:a16="http://schemas.microsoft.com/office/drawing/2014/main" id="{612BEE73-3C73-4AF6-9562-1C670E8D9482}"/>
              </a:ext>
            </a:extLst>
          </p:cNvPr>
          <p:cNvCxnSpPr>
            <a:cxnSpLocks/>
          </p:cNvCxnSpPr>
          <p:nvPr/>
        </p:nvCxnSpPr>
        <p:spPr>
          <a:xfrm>
            <a:off x="8670618" y="3338187"/>
            <a:ext cx="746790" cy="39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12">
            <a:extLst>
              <a:ext uri="{FF2B5EF4-FFF2-40B4-BE49-F238E27FC236}">
                <a16:creationId xmlns:a16="http://schemas.microsoft.com/office/drawing/2014/main" id="{387CC68B-3717-4374-8722-8FACC9E68AD4}"/>
              </a:ext>
            </a:extLst>
          </p:cNvPr>
          <p:cNvCxnSpPr>
            <a:cxnSpLocks/>
          </p:cNvCxnSpPr>
          <p:nvPr/>
        </p:nvCxnSpPr>
        <p:spPr>
          <a:xfrm>
            <a:off x="2756102" y="3749963"/>
            <a:ext cx="777626" cy="0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fik 82">
            <a:extLst>
              <a:ext uri="{FF2B5EF4-FFF2-40B4-BE49-F238E27FC236}">
                <a16:creationId xmlns:a16="http://schemas.microsoft.com/office/drawing/2014/main" id="{9D2780F4-17A8-42A3-AFFC-B15F07DE1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369" y="77965"/>
            <a:ext cx="718955" cy="495911"/>
          </a:xfrm>
          <a:prstGeom prst="rect">
            <a:avLst/>
          </a:prstGeom>
        </p:spPr>
      </p:pic>
      <p:pic>
        <p:nvPicPr>
          <p:cNvPr id="1026" name="Picture 2" descr="https://lh7-rt.googleusercontent.com/slidesz/AGV_vUdbnSo0iKwi52W96zAHyOEptYYjWBLqhws09ifOS15hRIbnizOhlFhOBsL5pemff1vQMJurT8qidTnfYQJjJMf3w9OCo93jsVm2ciyOobyW2f1ynHjc7Nc8cX9DxLp9yARYHKff=s2048?key=oOaVH7kVQMLbIlGKhZJwB-lT">
            <a:extLst>
              <a:ext uri="{FF2B5EF4-FFF2-40B4-BE49-F238E27FC236}">
                <a16:creationId xmlns:a16="http://schemas.microsoft.com/office/drawing/2014/main" id="{292D0659-3BC7-479F-A686-ACB7E9B78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33" y="4376166"/>
            <a:ext cx="1939682" cy="162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feld 44">
            <a:extLst>
              <a:ext uri="{FF2B5EF4-FFF2-40B4-BE49-F238E27FC236}">
                <a16:creationId xmlns:a16="http://schemas.microsoft.com/office/drawing/2014/main" id="{B19E8329-9BEA-48BC-936C-BC96751C6B0D}"/>
              </a:ext>
            </a:extLst>
          </p:cNvPr>
          <p:cNvSpPr txBox="1"/>
          <p:nvPr/>
        </p:nvSpPr>
        <p:spPr>
          <a:xfrm>
            <a:off x="9289834" y="3563959"/>
            <a:ext cx="27647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342900" indent="-342900">
              <a:buFontTx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in case of mining accident [2]</a:t>
            </a:r>
          </a:p>
          <a:p>
            <a:pPr marL="342900" indent="-342900"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Underwater monitoring [1]</a:t>
            </a:r>
          </a:p>
          <a:p>
            <a:pPr marL="342900" indent="-342900">
              <a:buFontTx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 [2]</a:t>
            </a:r>
          </a:p>
          <a:p>
            <a:pPr marL="342900" indent="-342900">
              <a:buFontTx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exploration [0]</a:t>
            </a:r>
          </a:p>
          <a:p>
            <a:pPr marL="342900" indent="-342900">
              <a:buFontTx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50" name="TextBox 8">
            <a:extLst>
              <a:ext uri="{FF2B5EF4-FFF2-40B4-BE49-F238E27FC236}">
                <a16:creationId xmlns:a16="http://schemas.microsoft.com/office/drawing/2014/main" id="{45A8FACA-FCAF-4E7A-A65F-2146E0D7F901}"/>
              </a:ext>
            </a:extLst>
          </p:cNvPr>
          <p:cNvSpPr txBox="1"/>
          <p:nvPr/>
        </p:nvSpPr>
        <p:spPr>
          <a:xfrm>
            <a:off x="3098201" y="2910075"/>
            <a:ext cx="2547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Task 3</a:t>
            </a:r>
            <a:r>
              <a:rPr lang="en-US" sz="16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: Evaluation of Communication Format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54867AEA-BEFA-4778-86BE-82E43D3FEF26}"/>
              </a:ext>
            </a:extLst>
          </p:cNvPr>
          <p:cNvSpPr/>
          <p:nvPr/>
        </p:nvSpPr>
        <p:spPr>
          <a:xfrm>
            <a:off x="5578682" y="118007"/>
            <a:ext cx="2106381" cy="113712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(tech-inspired)</a:t>
            </a:r>
          </a:p>
        </p:txBody>
      </p: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216DC982-6CF8-49DE-83DC-E13823C2A17A}"/>
              </a:ext>
            </a:extLst>
          </p:cNvPr>
          <p:cNvCxnSpPr>
            <a:cxnSpLocks/>
          </p:cNvCxnSpPr>
          <p:nvPr/>
        </p:nvCxnSpPr>
        <p:spPr>
          <a:xfrm flipV="1">
            <a:off x="5303918" y="3749963"/>
            <a:ext cx="875515" cy="5497"/>
          </a:xfrm>
          <a:prstGeom prst="straightConnector1">
            <a:avLst/>
          </a:prstGeom>
          <a:ln w="47625">
            <a:solidFill>
              <a:srgbClr val="859D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8">
            <a:extLst>
              <a:ext uri="{FF2B5EF4-FFF2-40B4-BE49-F238E27FC236}">
                <a16:creationId xmlns:a16="http://schemas.microsoft.com/office/drawing/2014/main" id="{B00AFC6D-748E-40B9-8FF1-4296065E67C0}"/>
              </a:ext>
            </a:extLst>
          </p:cNvPr>
          <p:cNvSpPr txBox="1"/>
          <p:nvPr/>
        </p:nvSpPr>
        <p:spPr>
          <a:xfrm>
            <a:off x="6096000" y="5007242"/>
            <a:ext cx="53284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Task 6</a:t>
            </a:r>
            <a:r>
              <a:rPr lang="en-US" sz="16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: answer final survey scales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- General Attitudes Towards Robots Scale (</a:t>
            </a:r>
            <a:r>
              <a:rPr lang="en-US" sz="1400" dirty="0" err="1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Koverola</a:t>
            </a: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 et al., 2022)</a:t>
            </a:r>
          </a:p>
          <a:p>
            <a:pPr marL="171450" indent="-171450" algn="ctr">
              <a:buFontTx/>
              <a:buChar char="-"/>
            </a:pP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MDMT: Multi-Dimensional Measure of Trust (Ullman &amp; </a:t>
            </a:r>
            <a:r>
              <a:rPr lang="en-US" sz="1400" dirty="0" err="1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Malle</a:t>
            </a: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, 2019)</a:t>
            </a:r>
          </a:p>
          <a:p>
            <a:pPr marL="171450" indent="-171450" algn="ctr">
              <a:buFontTx/>
              <a:buChar char="-"/>
            </a:pP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test for knowledge in the robotics domain, previous experience with robots (</a:t>
            </a:r>
            <a:r>
              <a:rPr lang="en-US" sz="1400" dirty="0" err="1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Neuteboom</a:t>
            </a:r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 &amp; de Graaf, 2021)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ea typeface="Yu Gothic" panose="020B0400000000000000" pitchFamily="34" charset="-128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38563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Breitbild</PresentationFormat>
  <Paragraphs>28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Yu Gothic</vt:lpstr>
      <vt:lpstr>Arial</vt:lpstr>
      <vt:lpstr>Calibri</vt:lpstr>
      <vt:lpstr>Calibri Light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Acceptance of Soft Robots</dc:title>
  <dc:creator>louisa estadieu</dc:creator>
  <cp:lastModifiedBy>Julius Fenn</cp:lastModifiedBy>
  <cp:revision>43</cp:revision>
  <dcterms:created xsi:type="dcterms:W3CDTF">2024-02-22T10:10:57Z</dcterms:created>
  <dcterms:modified xsi:type="dcterms:W3CDTF">2025-12-12T13:22:49Z</dcterms:modified>
</cp:coreProperties>
</file>